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9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8" r:id="rId9"/>
    <p:sldId id="269" r:id="rId10"/>
    <p:sldId id="270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4"/>
    <p:restoredTop sz="94668"/>
  </p:normalViewPr>
  <p:slideViewPr>
    <p:cSldViewPr snapToGrid="0">
      <p:cViewPr>
        <p:scale>
          <a:sx n="95" d="100"/>
          <a:sy n="95" d="100"/>
        </p:scale>
        <p:origin x="14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14250-65B0-6E41-AAEF-47AE0915D2D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4D218-70A5-234F-B9CE-FF725219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7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4D218-70A5-234F-B9CE-FF725219EA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44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4D218-70A5-234F-B9CE-FF725219EA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33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4D218-70A5-234F-B9CE-FF725219EA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79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4D218-70A5-234F-B9CE-FF725219EA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12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4D218-70A5-234F-B9CE-FF725219EA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38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7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22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14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81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42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34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96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45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8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6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21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5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dcu.be/eN7vW" TargetMode="External"/><Relationship Id="rId2" Type="http://schemas.openxmlformats.org/officeDocument/2006/relationships/hyperlink" Target="https://github.com/jajapuramshivasai/Quantum_Echo_NM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antumai.google/static/site-assets/downloads/quantum-computation-molecular-geometry-via-nuclear-spin-echoe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FBFD-7D9D-566E-41DC-D815D23F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0351008" cy="1499616"/>
          </a:xfrm>
        </p:spPr>
        <p:txBody>
          <a:bodyPr>
            <a:normAutofit/>
          </a:bodyPr>
          <a:lstStyle/>
          <a:p>
            <a:r>
              <a:rPr lang="en-IN" b="1" dirty="0"/>
              <a:t>Out-of-Time-Order Correlators based Spectroscopy for Nuclear Spin Geometries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D105-F2EF-EE42-15E3-BF0CACB7A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534" y="2228670"/>
            <a:ext cx="9388930" cy="1200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Quantum Simulation Approach to Hamiltonian Learning    		      via Many-Body Echo Spectroscopy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953EC-AED4-DECD-338B-7E0DA2C859DE}"/>
              </a:ext>
            </a:extLst>
          </p:cNvPr>
          <p:cNvSpPr txBox="1"/>
          <p:nvPr/>
        </p:nvSpPr>
        <p:spPr>
          <a:xfrm>
            <a:off x="4594830" y="4181955"/>
            <a:ext cx="30023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jajapuram shiva sai</a:t>
            </a:r>
          </a:p>
          <a:p>
            <a:endParaRPr lang="en-US" dirty="0"/>
          </a:p>
          <a:p>
            <a:r>
              <a:rPr lang="en-US" dirty="0"/>
              <a:t>4th November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5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DA62-BAD7-1017-8223-1B402F81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IN" dirty="0"/>
              <a:t>Motivation: The Challenge of Spin Networks in NMR</a:t>
            </a:r>
            <a:endParaRPr lang="en-US" dirty="0"/>
          </a:p>
        </p:txBody>
      </p:sp>
      <p:pic>
        <p:nvPicPr>
          <p:cNvPr id="19" name="Picture 18" descr="Close up of a molecular model">
            <a:extLst>
              <a:ext uri="{FF2B5EF4-FFF2-40B4-BE49-F238E27FC236}">
                <a16:creationId xmlns:a16="http://schemas.microsoft.com/office/drawing/2014/main" id="{08FFA7CF-244A-F31E-ADA8-75AB7126A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40" r="4519"/>
          <a:stretch>
            <a:fillRect/>
          </a:stretch>
        </p:blipFill>
        <p:spPr>
          <a:xfrm>
            <a:off x="7772400" y="10"/>
            <a:ext cx="4639733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5127B6-0A63-2650-DEB4-7291DEFE41FE}"/>
              </a:ext>
            </a:extLst>
          </p:cNvPr>
          <p:cNvSpPr txBox="1"/>
          <p:nvPr/>
        </p:nvSpPr>
        <p:spPr>
          <a:xfrm>
            <a:off x="5638800" y="297462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4666DF52-4B50-74D5-D5B1-23C43044F0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87"/>
          <a:stretch>
            <a:fillRect/>
          </a:stretch>
        </p:blipFill>
        <p:spPr>
          <a:xfrm>
            <a:off x="0" y="1920708"/>
            <a:ext cx="7772400" cy="47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EACD-BCE1-D007-9B23-93D866D2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Physical Model: The Secular Dipolar Hamiltonian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87BFB-3C05-3938-977A-43476896AC09}"/>
              </a:ext>
            </a:extLst>
          </p:cNvPr>
          <p:cNvSpPr txBox="1"/>
          <p:nvPr/>
        </p:nvSpPr>
        <p:spPr>
          <a:xfrm>
            <a:off x="5640636" y="297455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altLang="en-US" b="1" dirty="0">
              <a:solidFill>
                <a:srgbClr val="000000"/>
              </a:solidFill>
            </a:endParaRPr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F80A847-D494-E6E4-84F2-5B63244D0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85" y="1860185"/>
            <a:ext cx="7473914" cy="5014144"/>
          </a:xfrm>
          <a:prstGeom prst="rect">
            <a:avLst/>
          </a:prstGeom>
        </p:spPr>
      </p:pic>
      <p:pic>
        <p:nvPicPr>
          <p:cNvPr id="9" name="Picture 8" descr="A diagram of different types of light&#10;&#10;AI-generated content may be incorrect.">
            <a:extLst>
              <a:ext uri="{FF2B5EF4-FFF2-40B4-BE49-F238E27FC236}">
                <a16:creationId xmlns:a16="http://schemas.microsoft.com/office/drawing/2014/main" id="{6BC8A1FC-F796-CAEC-B327-40143657A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996" y="2084832"/>
            <a:ext cx="4419405" cy="363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4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888A-BA37-439B-08CF-4990F757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53" y="149531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The Quantum Probe: Out of Time </a:t>
            </a:r>
            <a:br>
              <a:rPr lang="en-US" dirty="0"/>
            </a:br>
            <a:r>
              <a:rPr lang="en-US" dirty="0"/>
              <a:t>Ordered Correlator (OTOC)</a:t>
            </a:r>
          </a:p>
        </p:txBody>
      </p:sp>
      <p:pic>
        <p:nvPicPr>
          <p:cNvPr id="8" name="Picture 7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F27F645D-FC1C-49A0-132B-E779EAD13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162" y="616950"/>
            <a:ext cx="3482326" cy="3561857"/>
          </a:xfrm>
          <a:prstGeom prst="rect">
            <a:avLst/>
          </a:prstGeom>
        </p:spPr>
      </p:pic>
      <p:pic>
        <p:nvPicPr>
          <p:cNvPr id="10" name="Picture 9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14E1A5E1-F174-9AD8-7850-92F1AF084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528" y="4309349"/>
            <a:ext cx="4325471" cy="2471697"/>
          </a:xfrm>
          <a:prstGeom prst="rect">
            <a:avLst/>
          </a:prstGeom>
        </p:spPr>
      </p:pic>
      <p:pic>
        <p:nvPicPr>
          <p:cNvPr id="6" name="Picture 5" descr="A black and white text with black text&#10;&#10;AI-generated content may be incorrect.">
            <a:extLst>
              <a:ext uri="{FF2B5EF4-FFF2-40B4-BE49-F238E27FC236}">
                <a16:creationId xmlns:a16="http://schemas.microsoft.com/office/drawing/2014/main" id="{7264C1C8-A7AF-5C1A-FC8C-CE2598E32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3151"/>
            <a:ext cx="7772400" cy="531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4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EC02-EC69-9B92-D076-4FDCEBA4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15532"/>
            <a:ext cx="10382506" cy="1088266"/>
          </a:xfrm>
        </p:spPr>
        <p:txBody>
          <a:bodyPr>
            <a:normAutofit/>
          </a:bodyPr>
          <a:lstStyle/>
          <a:p>
            <a:r>
              <a:rPr lang="en-US" sz="4000"/>
              <a:t>Simulation Samples (H2, H3, H6)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C0132F-C1C0-1944-6D39-6825FF262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282" y="1546412"/>
            <a:ext cx="4966661" cy="47572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altLang="en-US" sz="1400" dirty="0"/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Systems Simulated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H2 Dimer (2 Qubits): Single coupling D01.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H3 Ring (3 Qubits): Equilateral triangle topology.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H6 Ring (6 Qubits): Benzene-like topology with complex, multiple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Simulation Parameters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H2 </a:t>
            </a:r>
            <a:r>
              <a:rPr lang="en-US" altLang="en-US" sz="800" dirty="0"/>
              <a:t>{</a:t>
            </a:r>
            <a:r>
              <a:rPr lang="en-US" altLang="en-US" sz="800" dirty="0" err="1"/>
              <a:t>n_qubits</a:t>
            </a:r>
            <a:r>
              <a:rPr lang="en-US" altLang="en-US" sz="800" dirty="0"/>
              <a:t>: 2, </a:t>
            </a:r>
            <a:r>
              <a:rPr lang="en-US" altLang="en-US" sz="800" dirty="0" err="1"/>
              <a:t>delta_nu</a:t>
            </a:r>
            <a:r>
              <a:rPr lang="en-US" altLang="en-US" sz="800" dirty="0"/>
              <a:t>: [0, 4000] Hz, J₁₂: 144 Hz, T₂: 0.50 s, dt: 20 µs, </a:t>
            </a:r>
            <a:r>
              <a:rPr lang="en-US" altLang="en-US" sz="800" dirty="0" err="1"/>
              <a:t>total_time</a:t>
            </a:r>
            <a:r>
              <a:rPr lang="en-US" altLang="en-US" sz="800" dirty="0"/>
              <a:t>: 0.50 s}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H3 </a:t>
            </a:r>
            <a:r>
              <a:rPr lang="en-US" altLang="en-US" sz="800" dirty="0"/>
              <a:t>{</a:t>
            </a:r>
            <a:r>
              <a:rPr lang="en-US" altLang="en-US" sz="800" dirty="0" err="1"/>
              <a:t>n_qubits</a:t>
            </a:r>
            <a:r>
              <a:rPr lang="en-US" altLang="en-US" sz="800" dirty="0"/>
              <a:t>: 3,delta_nu: [0, 3000, 6000] </a:t>
            </a:r>
            <a:r>
              <a:rPr lang="en-US" altLang="en-US" sz="800" dirty="0" err="1"/>
              <a:t>Hz,J</a:t>
            </a:r>
            <a:r>
              <a:rPr lang="en-US" altLang="en-US" sz="800" dirty="0"/>
              <a:t>₁₂=144 Hz, J₂₃=7 Hz, J₁₃=0 Hz, T₂: 0.35 s, dt: 20 µs, </a:t>
            </a:r>
            <a:r>
              <a:rPr lang="en-US" altLang="en-US" sz="800" dirty="0" err="1"/>
              <a:t>total_time</a:t>
            </a:r>
            <a:r>
              <a:rPr lang="en-US" altLang="en-US" sz="800" dirty="0"/>
              <a:t>: 0.60 s}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H6 {</a:t>
            </a:r>
            <a:r>
              <a:rPr lang="en-US" altLang="en-US" sz="800" dirty="0" err="1"/>
              <a:t>n_qubits</a:t>
            </a:r>
            <a:r>
              <a:rPr lang="en-US" altLang="en-US" sz="800" dirty="0"/>
              <a:t>: 6, </a:t>
            </a:r>
            <a:r>
              <a:rPr lang="en-US" altLang="en-US" sz="800" dirty="0" err="1"/>
              <a:t>delta_nu</a:t>
            </a:r>
            <a:r>
              <a:rPr lang="en-US" altLang="en-US" sz="800" dirty="0"/>
              <a:t>: [0,200,400,600,800,1000] Hz, </a:t>
            </a:r>
            <a:r>
              <a:rPr lang="en-US" altLang="en-US" sz="800" dirty="0" err="1"/>
              <a:t>J_ortho</a:t>
            </a:r>
            <a:r>
              <a:rPr lang="en-US" altLang="en-US" sz="800" dirty="0"/>
              <a:t>  = 7.5 Hz, </a:t>
            </a:r>
            <a:r>
              <a:rPr lang="en-US" altLang="en-US" sz="800" dirty="0" err="1"/>
              <a:t>J_meta</a:t>
            </a:r>
            <a:r>
              <a:rPr lang="en-US" altLang="en-US" sz="800" dirty="0"/>
              <a:t>   = 1.4 Hz, </a:t>
            </a:r>
            <a:r>
              <a:rPr lang="en-US" altLang="en-US" sz="800" dirty="0" err="1"/>
              <a:t>J_para</a:t>
            </a:r>
            <a:r>
              <a:rPr lang="en-US" altLang="en-US" sz="800" dirty="0"/>
              <a:t>   = 0.6 Hz, T₂: 0.25 s, dt: 10 µs, </a:t>
            </a:r>
            <a:r>
              <a:rPr lang="en-US" altLang="en-US" sz="800" dirty="0" err="1"/>
              <a:t>total_time</a:t>
            </a:r>
            <a:r>
              <a:rPr lang="en-US" altLang="en-US" sz="800" dirty="0"/>
              <a:t>: 0.80 s}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Result</a:t>
            </a:r>
          </a:p>
          <a:p>
            <a:pPr>
              <a:spcAft>
                <a:spcPts val="600"/>
              </a:spcAft>
            </a:pPr>
            <a:r>
              <a:rPr lang="en-US" altLang="en-US" sz="1400" dirty="0"/>
              <a:t>The OTOC signal exhibits a rapid, non-monotonic decay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en-US" sz="1400" dirty="0"/>
              <a:t>whose features are directly determined by the inter-spin couplings,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en-US" sz="1400" dirty="0"/>
              <a:t>confirming structural sensitivity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67D84F0F-6DA9-8DAA-503C-9AE111DE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75" r="6294"/>
          <a:stretch>
            <a:fillRect/>
          </a:stretch>
        </p:blipFill>
        <p:spPr>
          <a:xfrm>
            <a:off x="5686009" y="1711608"/>
            <a:ext cx="2199299" cy="2573195"/>
          </a:xfrm>
          <a:prstGeom prst="rect">
            <a:avLst/>
          </a:prstGeom>
        </p:spPr>
      </p:pic>
      <p:pic>
        <p:nvPicPr>
          <p:cNvPr id="8" name="Picture 7" descr="A graph of a graph with lines and dots&#10;&#10;AI-generated content may be incorrect.">
            <a:extLst>
              <a:ext uri="{FF2B5EF4-FFF2-40B4-BE49-F238E27FC236}">
                <a16:creationId xmlns:a16="http://schemas.microsoft.com/office/drawing/2014/main" id="{9E385D52-8956-5FC0-3595-991A5A82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0" r="3092"/>
          <a:stretch>
            <a:fillRect/>
          </a:stretch>
        </p:blipFill>
        <p:spPr>
          <a:xfrm>
            <a:off x="5686010" y="4284803"/>
            <a:ext cx="2199299" cy="2573197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5A1513D2-E5F1-11B5-7AFA-441358E5B6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81" r="11297"/>
          <a:stretch>
            <a:fillRect/>
          </a:stretch>
        </p:blipFill>
        <p:spPr>
          <a:xfrm>
            <a:off x="8187801" y="1711609"/>
            <a:ext cx="3896622" cy="514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4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8633-6380-B81A-770E-790CD7D3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1" y="-125137"/>
            <a:ext cx="10461812" cy="174955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Quantum Implementation and Observable</a:t>
            </a:r>
          </a:p>
        </p:txBody>
      </p:sp>
      <p:pic>
        <p:nvPicPr>
          <p:cNvPr id="8" name="Picture 7" descr="A white sheet with black text and symbols&#10;&#10;AI-generated content may be incorrect.">
            <a:extLst>
              <a:ext uri="{FF2B5EF4-FFF2-40B4-BE49-F238E27FC236}">
                <a16:creationId xmlns:a16="http://schemas.microsoft.com/office/drawing/2014/main" id="{3EC2E7F0-687D-D302-D307-12813A4C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0" y="1365490"/>
            <a:ext cx="7772400" cy="5293701"/>
          </a:xfrm>
          <a:prstGeom prst="rect">
            <a:avLst/>
          </a:prstGeom>
        </p:spPr>
      </p:pic>
      <p:pic>
        <p:nvPicPr>
          <p:cNvPr id="9" name="Picture 8" descr="A diagram of a circuit&#10;&#10;AI-generated content may be incorrect.">
            <a:extLst>
              <a:ext uri="{FF2B5EF4-FFF2-40B4-BE49-F238E27FC236}">
                <a16:creationId xmlns:a16="http://schemas.microsoft.com/office/drawing/2014/main" id="{A1D90D7D-F21F-DACA-8566-B9007980C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320" y="1365490"/>
            <a:ext cx="4173680" cy="1071024"/>
          </a:xfrm>
          <a:prstGeom prst="rect">
            <a:avLst/>
          </a:prstGeom>
        </p:spPr>
      </p:pic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FE8E72A8-D1B3-03E0-D2E2-D20A877E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362" y="2450905"/>
            <a:ext cx="2846294" cy="1496425"/>
          </a:xfrm>
          <a:prstGeom prst="rect">
            <a:avLst/>
          </a:prstGeom>
        </p:spPr>
      </p:pic>
      <p:pic>
        <p:nvPicPr>
          <p:cNvPr id="13" name="Picture 12" descr="A diagram of a circuit&#10;&#10;AI-generated content may be incorrect.">
            <a:extLst>
              <a:ext uri="{FF2B5EF4-FFF2-40B4-BE49-F238E27FC236}">
                <a16:creationId xmlns:a16="http://schemas.microsoft.com/office/drawing/2014/main" id="{E1041CCC-D2BB-EBBE-F7D6-3071F40FC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362" y="3961721"/>
            <a:ext cx="2846293" cy="14964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C449CB7-F262-2D93-1D1F-47DCB45448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4133" t="9754" r="17876" b="6403"/>
          <a:stretch>
            <a:fillRect/>
          </a:stretch>
        </p:blipFill>
        <p:spPr>
          <a:xfrm>
            <a:off x="9345706" y="5361575"/>
            <a:ext cx="2846294" cy="14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A9BC-1D5F-644E-B537-DCC60164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Analysis: Spectral Extraction of Couplings</a:t>
            </a:r>
          </a:p>
        </p:txBody>
      </p:sp>
      <p:pic>
        <p:nvPicPr>
          <p:cNvPr id="5" name="Picture 4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ADB44F91-6EF9-B5A0-8FA6-3B0F73267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5175"/>
            <a:ext cx="76962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2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graph of a power spectrum&#10;&#10;AI-generated content may be incorrect.">
            <a:extLst>
              <a:ext uri="{FF2B5EF4-FFF2-40B4-BE49-F238E27FC236}">
                <a16:creationId xmlns:a16="http://schemas.microsoft.com/office/drawing/2014/main" id="{5ED46BFE-B73A-7760-D540-CA4ACCFFD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410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73A10928-6980-D1A1-0CE9-9FDCBA9A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76" b="2"/>
          <a:stretch>
            <a:fillRect/>
          </a:stretch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7" name="Picture 6" descr="A graph of orange and blue lines&#10;&#10;AI-generated content may be incorrect.">
            <a:extLst>
              <a:ext uri="{FF2B5EF4-FFF2-40B4-BE49-F238E27FC236}">
                <a16:creationId xmlns:a16="http://schemas.microsoft.com/office/drawing/2014/main" id="{18164CFE-289D-03A6-484C-00ABCD434E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71" r="2" b="8624"/>
          <a:stretch>
            <a:fillRect/>
          </a:stretch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9" name="Picture 8" descr="A graph of a frequency spectrum&#10;&#10;AI-generated content may be incorrect.">
            <a:extLst>
              <a:ext uri="{FF2B5EF4-FFF2-40B4-BE49-F238E27FC236}">
                <a16:creationId xmlns:a16="http://schemas.microsoft.com/office/drawing/2014/main" id="{11244FA5-2053-908D-D889-D74B848160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44" r="2" b="11490"/>
          <a:stretch>
            <a:fillRect/>
          </a:stretch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8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power spectrum&#10;&#10;AI-generated content may be incorrect.">
            <a:extLst>
              <a:ext uri="{FF2B5EF4-FFF2-40B4-BE49-F238E27FC236}">
                <a16:creationId xmlns:a16="http://schemas.microsoft.com/office/drawing/2014/main" id="{AF8DECBD-9072-3FF7-2C46-8C7C5B6E9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14" y="321734"/>
            <a:ext cx="5234540" cy="29051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of a frequency&#10;&#10;AI-generated content may be incorrect.">
            <a:extLst>
              <a:ext uri="{FF2B5EF4-FFF2-40B4-BE49-F238E27FC236}">
                <a16:creationId xmlns:a16="http://schemas.microsoft.com/office/drawing/2014/main" id="{D08C6B2B-04D9-477D-1217-82493AD42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330011"/>
            <a:ext cx="5112595" cy="28886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64321203-02C9-3791-5DC0-84645F9EB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3742870"/>
            <a:ext cx="5426764" cy="2537011"/>
          </a:xfrm>
          <a:prstGeom prst="rect">
            <a:avLst/>
          </a:prstGeom>
        </p:spPr>
      </p:pic>
      <p:pic>
        <p:nvPicPr>
          <p:cNvPr id="7" name="Picture 6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0CA751F4-64A8-615E-568D-FBF897471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7634" y="3631096"/>
            <a:ext cx="4893395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6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85C84-666E-AE27-F19B-DC3594FC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power spectrum&#10;&#10;AI-generated content may be incorrect.">
            <a:extLst>
              <a:ext uri="{FF2B5EF4-FFF2-40B4-BE49-F238E27FC236}">
                <a16:creationId xmlns:a16="http://schemas.microsoft.com/office/drawing/2014/main" id="{DE9D4FB3-CBAD-33AD-6A40-16F10E855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14" y="321734"/>
            <a:ext cx="5234540" cy="29051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a frequency&#10;&#10;AI-generated content may be incorrect.">
            <a:extLst>
              <a:ext uri="{FF2B5EF4-FFF2-40B4-BE49-F238E27FC236}">
                <a16:creationId xmlns:a16="http://schemas.microsoft.com/office/drawing/2014/main" id="{DA711DE7-D5D5-743C-4D36-C4E95906A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34" y="330011"/>
            <a:ext cx="5112595" cy="288861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hexagon and a diagram of a hexagon&#10;&#10;AI-generated content may be incorrect.">
            <a:extLst>
              <a:ext uri="{FF2B5EF4-FFF2-40B4-BE49-F238E27FC236}">
                <a16:creationId xmlns:a16="http://schemas.microsoft.com/office/drawing/2014/main" id="{0E1BB1C4-A6F0-3DB8-9BDE-B3505DB7D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3817488"/>
            <a:ext cx="5426764" cy="2387776"/>
          </a:xfrm>
          <a:prstGeom prst="rect">
            <a:avLst/>
          </a:prstGeom>
        </p:spPr>
      </p:pic>
      <p:pic>
        <p:nvPicPr>
          <p:cNvPr id="5" name="Picture 4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B95FC91C-8CFA-1703-E707-93C1E6638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634" y="3631096"/>
            <a:ext cx="4893395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7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24BD-971D-F4F2-1F71-721AC1CB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Quantum Advantage, A Molecular Ruler</a:t>
            </a:r>
          </a:p>
        </p:txBody>
      </p:sp>
      <p:pic>
        <p:nvPicPr>
          <p:cNvPr id="6" name="Content Placeholder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F08E37A-968A-25B0-1152-0BD66F18C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7800"/>
            <a:ext cx="7721600" cy="4013200"/>
          </a:xfrm>
        </p:spPr>
      </p:pic>
    </p:spTree>
    <p:extLst>
      <p:ext uri="{BB962C8B-B14F-4D97-AF65-F5344CB8AC3E}">
        <p14:creationId xmlns:p14="http://schemas.microsoft.com/office/powerpoint/2010/main" val="3086318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0D1-A808-D31A-AC93-AF4B24E0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Direction</a:t>
            </a:r>
          </a:p>
        </p:txBody>
      </p:sp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2B4C4E18-5027-0805-2FF8-D89AECC9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48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8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7FEF5-A8F2-828F-477C-F4FE2750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404C13-BEE5-AD44-BCB7-2EE4D3FEA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850" y="2367171"/>
            <a:ext cx="119525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100000"/>
              </a:lnSpc>
              <a:buClrTx/>
              <a:buSzTx/>
              <a:buFont typeface="Wingdings" pitchFamily="2" charset="2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GitHub Repository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buClrTx/>
              <a:buSzTx/>
              <a:buFont typeface="Wingdings" pitchFamily="2" charset="2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Observation of constructive interference at the edge of quantum ergodicity</a:t>
            </a:r>
            <a:endParaRPr lang="en-US" altLang="en-US" sz="1800" dirty="0"/>
          </a:p>
          <a:p>
            <a:pPr lvl="0">
              <a:lnSpc>
                <a:spcPct val="100000"/>
              </a:lnSpc>
              <a:buClrTx/>
              <a:buSzTx/>
              <a:buFont typeface="Wingdings" pitchFamily="2" charset="2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Quantum computation of molecular geometry via many-body nuclear spin echoes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01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E5671F0-E409-2348-A80B-8397F4721719}">
  <we:reference id="wa200003964" version="1.0.0.0" store="en-GB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C4158A-5ABD-9845-BE0F-15AB158A8877}">
  <we:reference id="wa200004052" version="1.0.0.2" store="en-IN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1307</TotalTime>
  <Words>331</Words>
  <Application>Microsoft Macintosh PowerPoint</Application>
  <PresentationFormat>Widescreen</PresentationFormat>
  <Paragraphs>35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Wingdings</vt:lpstr>
      <vt:lpstr>Office Theme</vt:lpstr>
      <vt:lpstr>Out-of-Time-Order Correlators based Spectroscopy for Nuclear Spin Geometries</vt:lpstr>
      <vt:lpstr>Motivation: The Challenge of Spin Networks in NMR</vt:lpstr>
      <vt:lpstr>Physical Model: The Secular Dipolar Hamiltonian</vt:lpstr>
      <vt:lpstr>The Quantum Probe: Out of Time  Ordered Correlator (OTOC)</vt:lpstr>
      <vt:lpstr>Simulation Samples (H2, H3, H6)</vt:lpstr>
      <vt:lpstr>Quantum Implementation and Observable</vt:lpstr>
      <vt:lpstr>Data Analysis: Spectral Extraction of Couplings</vt:lpstr>
      <vt:lpstr>PowerPoint Presentation</vt:lpstr>
      <vt:lpstr>PowerPoint Presentation</vt:lpstr>
      <vt:lpstr>PowerPoint Presentation</vt:lpstr>
      <vt:lpstr>The Quantum Advantage, A Molecular Ruler</vt:lpstr>
      <vt:lpstr>Conclusion and Future Direction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JAJAPURAM SHIVA SAI</dc:creator>
  <cp:lastModifiedBy>JAJAPURAM SHIVA SAI</cp:lastModifiedBy>
  <cp:revision>5</cp:revision>
  <dcterms:created xsi:type="dcterms:W3CDTF">2025-11-02T14:15:11Z</dcterms:created>
  <dcterms:modified xsi:type="dcterms:W3CDTF">2025-11-04T14:39:31Z</dcterms:modified>
</cp:coreProperties>
</file>