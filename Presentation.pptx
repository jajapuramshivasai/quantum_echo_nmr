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35"/>
  </p:normalViewPr>
  <p:slideViewPr>
    <p:cSldViewPr snapToGrid="0">
      <p:cViewPr varScale="1">
        <p:scale>
          <a:sx n="105" d="100"/>
          <a:sy n="105" d="100"/>
        </p:scale>
        <p:origin x="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11/2/25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pPr/>
              <a:t>11/2/25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3FBFD-7D9D-566E-41DC-D815D23F9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10351008" cy="1499616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Out-of-Time-Order Correlators based Spectroscopy for Nuclear Spin Geometries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D105-F2EF-EE42-15E3-BF0CACB7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6000"/>
            <a:ext cx="9720073" cy="798576"/>
          </a:xfrm>
        </p:spPr>
        <p:txBody>
          <a:bodyPr/>
          <a:lstStyle/>
          <a:p>
            <a:r>
              <a:rPr lang="en-IN" dirty="0"/>
              <a:t>A Quantum Simulation Approach to Hamiltonian Learning via Many-Body Echo Spectroscopy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C953EC-AED4-DECD-338B-7E0DA2C859DE}"/>
              </a:ext>
            </a:extLst>
          </p:cNvPr>
          <p:cNvSpPr txBox="1"/>
          <p:nvPr/>
        </p:nvSpPr>
        <p:spPr>
          <a:xfrm>
            <a:off x="1109472" y="3429000"/>
            <a:ext cx="671779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jajapuram shiva sai</a:t>
            </a:r>
          </a:p>
          <a:p>
            <a:endParaRPr lang="en-US" dirty="0"/>
          </a:p>
          <a:p>
            <a:r>
              <a:rPr lang="en-US" dirty="0"/>
              <a:t>3 November 2025</a:t>
            </a:r>
          </a:p>
          <a:p>
            <a:endParaRPr lang="en-US" dirty="0"/>
          </a:p>
          <a:p>
            <a:r>
              <a:rPr lang="en-US" dirty="0"/>
              <a:t>Based on:</a:t>
            </a:r>
          </a:p>
          <a:p>
            <a:r>
              <a:rPr lang="en-US" dirty="0"/>
              <a:t>The Quantum Echoes Algorithm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research.google</a:t>
            </a:r>
            <a:r>
              <a:rPr lang="en-US" dirty="0"/>
              <a:t>/blog/a-verifiable-quantum-advantage/</a:t>
            </a:r>
          </a:p>
        </p:txBody>
      </p:sp>
    </p:spTree>
    <p:extLst>
      <p:ext uri="{BB962C8B-B14F-4D97-AF65-F5344CB8AC3E}">
        <p14:creationId xmlns:p14="http://schemas.microsoft.com/office/powerpoint/2010/main" val="2739352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BDA62-BAD7-1017-8223-1B402F81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Motivation: The Challenge of Spin Networks in NMR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C3B95-9BF7-445E-1FC5-4AAC128E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Problem Statement</a:t>
            </a:r>
          </a:p>
          <a:p>
            <a:r>
              <a:rPr lang="en-US" dirty="0"/>
              <a:t>In Nuclear Magnetic Resonance (NMR), determining the molecular structure relies on measuring precise inter-nuclear couplings. For complex, interacting spin systems, this is challenged by two phenomena:</a:t>
            </a:r>
          </a:p>
          <a:p>
            <a:r>
              <a:rPr lang="en-US" dirty="0"/>
              <a:t>Dephasing and Relaxation (T2): Rapid loss of magnetization signal due to local field variations and many-body interactions.</a:t>
            </a:r>
          </a:p>
          <a:p>
            <a:r>
              <a:rPr lang="en-US" dirty="0"/>
              <a:t>Quantum Information Scrambling: In large, strongly interacting systems, local information spreads rapidly across the network, making it difficult to isolate individual coupling pathways.</a:t>
            </a:r>
          </a:p>
          <a:p>
            <a:r>
              <a:rPr lang="en-US" dirty="0"/>
              <a:t>The Solution: Time-Reversal and Quantum Echoes</a:t>
            </a:r>
          </a:p>
          <a:p>
            <a:r>
              <a:rPr lang="en-US" dirty="0"/>
              <a:t>Traditional Solution (Hahn Echo): Reverses inhomogeneous dephasing (simple, single-particle effect).</a:t>
            </a:r>
          </a:p>
          <a:p>
            <a:r>
              <a:rPr lang="en-US" dirty="0"/>
              <a:t>Proposed Solution (</a:t>
            </a:r>
            <a:r>
              <a:rPr lang="en-US" dirty="0" err="1"/>
              <a:t>Loschmidt</a:t>
            </a:r>
            <a:r>
              <a:rPr lang="en-US" dirty="0"/>
              <a:t> Echo &amp; OTOC): Reverses complex, chaotic many-body dynamics to amplify structural information that would otherwise be lost in the noise. This technique turns the scrambling dynamics into a tool for spectroscopy</a:t>
            </a:r>
          </a:p>
        </p:txBody>
      </p:sp>
    </p:spTree>
    <p:extLst>
      <p:ext uri="{BB962C8B-B14F-4D97-AF65-F5344CB8AC3E}">
        <p14:creationId xmlns:p14="http://schemas.microsoft.com/office/powerpoint/2010/main" val="803064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2EACD-BCE1-D007-9B23-93D866D26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Physical Model: The Secular Dipolar Hamiltonian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B46B92-E647-05C4-9432-21D1829F88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404855"/>
            <a:ext cx="9807493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System: Proton Spin Networks in a Partially Aligned Medium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system models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N proton spins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​) in a liquid crystal, where the dominant coherent interaction is the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Residual Dipolar Coupling (RDC)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Hamiltonian (H)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dynamics are governed by the secular dipolar Hamiltonian, which is a many-body interaction, acting as the evolution operator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U(t)=e−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iHt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Hdip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​=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&lt;j∑​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​(2Iz,i​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Iz,j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​−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Ix,i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Ix,j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​−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Iy,i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Iy,j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Coupling Parameter (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key parameter encoding molecular geometry is the RDC,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​, where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 is the distance between spins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and j: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​∝rij3​1​⋅S⋅(3cos2θij​−1)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The experiment aims to perform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Hamiltonian Learning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—using the OTOC signal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spectrum to accurately extract the values of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​, and thus, the molecular distances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basically the inverse problem.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2445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A888A-BA37-439B-08CF-4990F757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Quantum Probe: Out-of-Time-Ordered Correlator (OTOC)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F5DC46-1499-1EA4-4441-CF17466AAA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035523"/>
            <a:ext cx="10526921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Definition and Interpretation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OTOC is an expectation value that quantifies the non-commutativity of two local operators,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W and V, evolved forward and backward in time.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C(t)=−⟨[W(t),V]2⟩∝1−Re[F(t)]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Where the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OTOC Fidelity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(or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echo signal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is defined as: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F(t)=⟨W†(t)V†W(t)V⟩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Protocol Steps (The Quantum Echoes Circuit)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OTOC Fidelity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F(t) is implemented as an echo experiment: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Preparation: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Prepare the spin network in an initial state (e.g., ∣+⟩ on the measured qubit).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Forward Evolution (U(t)):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Apply the Hamiltonian H for time t: U(t)=e−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iHt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Butterfly Operator (V):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Apply a small perturbation (e.g., V=e−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iϕIx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 on a distant qubit).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1800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This is the "butterfly" nudge.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Backward Evolution (U†(t)):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Reverse the Hamiltonian dynamics: U†(t)=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e+iHt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Probe Operator (W):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Measure a local observable (e.g., W=Ix​ on the initial qubit).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Physical Meaning: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The OTOC measures how the initial local perturbation V spreads, or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scrambles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across the system and affects the revival of the initial state after time-reversal.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rate and pattern of this scrambling are directly determined by the coupling strengths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0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23430B4-C2B6-48DA-A79F-757492AF8E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599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C28633-6380-B81A-770E-790CD7D3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59317"/>
            <a:ext cx="4389120" cy="174955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/>
              <a:t>Mathematical Framework: Implementation of the Echo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153BDBF-1B08-496E-BED4-E0DE721A0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36C7D64-B0C5-FD86-894A-73C86182D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4129" y="2286000"/>
            <a:ext cx="4389120" cy="39319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45720" tIns="45720" rIns="45720" bIns="45720" numCol="1" rtlCol="0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+mn-lt"/>
              </a:rPr>
              <a:t>Trotter Decomposition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+mn-lt"/>
              </a:rPr>
              <a:t>Since the full many-body evolution U(t) is generally too complex to implement directly, it is approximated using a first-order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+mn-lt"/>
              </a:rPr>
              <a:t>Trotter-Suzuki decomposition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+mn-lt"/>
              </a:rPr>
              <a:t> of the Hamiltonian into native two-qubit gates (CNOT, RZZ, RXX, etc.):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+mn-lt"/>
              </a:rPr>
              <a:t>U(t)=e−iHt≈(i&lt;j∏​e−iHij​Δt)n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+mn-lt"/>
              </a:rPr>
              <a:t>Where Hij​ are the two-spin terms of Hdip​, Δt=t/n, and n is the number of Trotter steps.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>
              <a:ln>
                <a:noFill/>
              </a:ln>
              <a:effectLst/>
              <a:latin typeface="+mn-lt"/>
            </a:endParaRP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+mn-lt"/>
              </a:rPr>
              <a:t>Experimental Observable (Loschmidt Echo vs. OTOC)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+mn-lt"/>
              </a:rPr>
              <a:t>The actual measured signal is a local expectation value M(t):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effectLst/>
                <a:latin typeface="+mn-lt"/>
              </a:rPr>
              <a:t>Final Measurement: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effectLst/>
                <a:latin typeface="+mn-lt"/>
              </a:rPr>
              <a:t> The structural information is in the difference. When the forward and backward evolutions are perfect, the OTOC signal's decay is purely due to the butterfly operator V scrambling information between the probe and measurement sites.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92EBA6-2646-117F-7331-88A57D343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5698430"/>
              </p:ext>
            </p:extLst>
          </p:nvPr>
        </p:nvGraphicFramePr>
        <p:xfrm>
          <a:off x="7056116" y="2787052"/>
          <a:ext cx="4175764" cy="1286991"/>
        </p:xfrm>
        <a:graphic>
          <a:graphicData uri="http://schemas.openxmlformats.org/drawingml/2006/table">
            <a:tbl>
              <a:tblPr/>
              <a:tblGrid>
                <a:gridCol w="828485">
                  <a:extLst>
                    <a:ext uri="{9D8B030D-6E8A-4147-A177-3AD203B41FA5}">
                      <a16:colId xmlns:a16="http://schemas.microsoft.com/office/drawing/2014/main" val="4010263251"/>
                    </a:ext>
                  </a:extLst>
                </a:gridCol>
                <a:gridCol w="913604">
                  <a:extLst>
                    <a:ext uri="{9D8B030D-6E8A-4147-A177-3AD203B41FA5}">
                      <a16:colId xmlns:a16="http://schemas.microsoft.com/office/drawing/2014/main" val="2314918912"/>
                    </a:ext>
                  </a:extLst>
                </a:gridCol>
                <a:gridCol w="1551991">
                  <a:extLst>
                    <a:ext uri="{9D8B030D-6E8A-4147-A177-3AD203B41FA5}">
                      <a16:colId xmlns:a16="http://schemas.microsoft.com/office/drawing/2014/main" val="1877472455"/>
                    </a:ext>
                  </a:extLst>
                </a:gridCol>
                <a:gridCol w="881684">
                  <a:extLst>
                    <a:ext uri="{9D8B030D-6E8A-4147-A177-3AD203B41FA5}">
                      <a16:colId xmlns:a16="http://schemas.microsoft.com/office/drawing/2014/main" val="492518332"/>
                    </a:ext>
                  </a:extLst>
                </a:gridCol>
              </a:tblGrid>
              <a:tr h="3779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Observable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Evolution Path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Operator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Purpose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021095"/>
                  </a:ext>
                </a:extLst>
              </a:tr>
              <a:tr h="3779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Loschmidt Echo (LE)</a:t>
                      </a:r>
                      <a:endParaRPr lang="en-IN" sz="1000"/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>
                          <a:effectLst/>
                        </a:rPr>
                        <a:t>U†(t)U(t)</a:t>
                      </a:r>
                      <a:endParaRPr lang="en-IN" sz="1000"/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$M_{\mathrm{LE}}(t) = \langle \psi_0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U^\dagger(t) I_x U(t)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60759"/>
                  </a:ext>
                </a:extLst>
              </a:tr>
              <a:tr h="53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OTOC</a:t>
                      </a:r>
                      <a:endParaRPr lang="en-IN" sz="1000"/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>
                          <a:effectLst/>
                        </a:rPr>
                        <a:t>U†(t)V†U(t)V</a:t>
                      </a:r>
                      <a:endParaRPr lang="en-IN" sz="1000"/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$M_{\mathrm{OTOC}}(t) = \langle \psi_0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U^\dagger(t) V^\dagger I_x U(t) V</a:t>
                      </a:r>
                    </a:p>
                  </a:txBody>
                  <a:tcPr marL="51071" marR="51071" marT="25535" marB="2553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9731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654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EC02-EC69-9B92-D076-4FDCEBA4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Studies: Simulation Results (H2, H3, H6)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AC0132F-C1C0-1944-6D39-6825FF262D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3051186"/>
            <a:ext cx="9943748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Method: Full Time-Trace Simulation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notebook simulated the LE and OTOC time-traces for three molecular topologies, mapping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H-spins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to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Qubits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| Molecule | Topology | ∣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​∣ Couplings (rad/s) | Qubits | Meas. Qubit (W) |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Butterfly Qubit (V) | | :--- | :--- | :--- | :--- | :--- | :--- | |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H2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| Linear Dimer | One strong coupling,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D01​ | 2 | 0 | 1 | |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H3 Ring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| Equilateral Triangle | Three equal strong couplings | 3 | 0 | 1 or 2 |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|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H6 Ring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| Benzene-like (Toy) | Multiple strong and weak couplings | 6 | 0 | 3 (Para position) |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Key Observation in Time Traces: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The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OTOC signal decays faster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than the LE signal, with its decay rate being highly sensitive to the magnitude of the coupling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connecting the measured qubit W and the butterfly qubit V.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640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2A9BC-1D5F-644E-B537-DCC60164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Analysis: Spectral Extraction of Couplings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F820024-E28E-1389-5B46-49F2D8812D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866520"/>
            <a:ext cx="9284914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Frequency Domain Spectroscopy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physical couplings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 correspond to characteristic oscillation frequencies in the time evolution.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By applying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Fourier Transform (FT)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to the OTOC time-trace MOTOC​(t),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we can directly resolve these frequencies.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Power Spectrum Approach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project uses the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one-sided power spectrum (∣FFT∣2)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to identify dominant frequencies: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Spectrum(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ω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)=∣F{MOTOC​(t)}∣2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most prominent peaks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ωk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 in the spectrum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correspond directly to linear combinations of the coupling strengths: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ωk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​≈Linear Combination(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0729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C24BD-971D-F4F2-1F71-721AC1CB9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Quantum Advantage of OTOC for Structure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9E0C46E-CE2D-EB00-691E-373555ECBA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497189"/>
            <a:ext cx="10324301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Why OTOC is Superior to Time-Ordered Correlators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Traditional NMR measures time-ordered correlators (TOCs), which decay exponentially due to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decoherence and scrambling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This limits the time-window for measurement and makes long-range couplings (1/rij3​ dependence)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extremely difficult to detect.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OTOC provides a verified advantage because it: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Amplify Signal: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The time-reversal inherent in the echo protocol partially cancels errors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amplifies the useful quantum signal.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Robustness to Noise: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It is specifically robust against the kind of dynamic noise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(many-body interactions) that destroys conventional signals.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Molecular Ruler: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It allows for the measurement of the speed of information spread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Butterfly Velocity, 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vB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), which is directly related to the geometry, allowing structural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1800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estimation up to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13,000 times faster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than leading classical methods (Nature, 2025).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318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900D1-A808-D31A-AC93-AF4B24E02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A11447C-A397-3449-8926-8D64A173C6C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035525"/>
            <a:ext cx="121959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Conclusion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 successfully designed and simulated the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Quantum Echoes (OTOC) protocol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for small,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interacting spin networks (H2, H3, H6) governed by the secular dipolar Hamiltonian.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 demonstrated that the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spectral analysis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of the OTOC time-trace can reliably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extract the underlying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Residual Dipolar Couplings (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Dij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confirming the technique's utility for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Hamiltonian learning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project serves as a proof-of-concept for using near-term quantum processors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(like the simulated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Qiskit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-based circuits) as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quantum computational spectroscope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 solve computationally challenging problems in molecular structure determination.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Future Work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Implementation on Hardware: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Run the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Trotterized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OTOC circuits on current Noise Intermediate-Scale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Quantum (NISQ) devices.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Error Mitigation: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Implement advanced error-mitigation techniques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(e.g., zero-noise extrapolation) to refine the low-amplitude OTOC signals.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Inverse Problem: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Develop machine learning models to solve the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inverse problem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directly map the spectral peaks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ωk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 back to the full set of inter-atomic distances {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rij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​}.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28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7FEF5-A8F2-828F-477C-F4FE27502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404C13-BEE5-AD44-BCB7-2EE4D3FEA6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3697515"/>
            <a:ext cx="975138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[1]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Project Notebook: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[Your GitHub Link or Repository for the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ONE.ipynb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notebook].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[2]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Verifiable Quantum Advantage in Molecular Structure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Determination.</a:t>
            </a:r>
            <a:r>
              <a:rPr kumimoji="0" lang="en-US" altLang="en-US" sz="18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Nature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2025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[3]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Quantum Computation of Molecular Geometry via Many-Body Nuclear Spin Echoes.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arXiv:2510.19550v1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2025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0159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16</TotalTime>
  <Words>1580</Words>
  <Application>Microsoft Macintosh PowerPoint</Application>
  <PresentationFormat>Widescreen</PresentationFormat>
  <Paragraphs>127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Tw Cen MT</vt:lpstr>
      <vt:lpstr>Tw Cen MT Condensed</vt:lpstr>
      <vt:lpstr>Wingdings 3</vt:lpstr>
      <vt:lpstr>Integral</vt:lpstr>
      <vt:lpstr>Out-of-Time-Order Correlators based Spectroscopy for Nuclear Spin Geometries</vt:lpstr>
      <vt:lpstr>Motivation: The Challenge of Spin Networks in NMR</vt:lpstr>
      <vt:lpstr>Physical Model: The Secular Dipolar Hamiltonian</vt:lpstr>
      <vt:lpstr>The Quantum Probe: Out-of-Time-Ordered Correlator (OTOC)</vt:lpstr>
      <vt:lpstr>Mathematical Framework: Implementation of the Echo</vt:lpstr>
      <vt:lpstr>Case Studies: Simulation Results (H2, H3, H6)</vt:lpstr>
      <vt:lpstr>Data Analysis: Spectral Extraction of Couplings</vt:lpstr>
      <vt:lpstr>The Quantum Advantage of OTOC for Structure</vt:lpstr>
      <vt:lpstr>Conclusion and Future Work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JAJAPURAM SHIVA SAI</dc:creator>
  <cp:lastModifiedBy>JAJAPURAM SHIVA SAI</cp:lastModifiedBy>
  <cp:revision>1</cp:revision>
  <dcterms:created xsi:type="dcterms:W3CDTF">2025-11-02T14:15:11Z</dcterms:created>
  <dcterms:modified xsi:type="dcterms:W3CDTF">2025-11-02T14:31:19Z</dcterms:modified>
</cp:coreProperties>
</file>